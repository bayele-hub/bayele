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 du CA</c:v>
                </c:pt>
              </c:strCache>
            </c:strRef>
          </c:tx>
          <c:spPr>
            <a:solidFill>
              <a:srgbClr val="C9A24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2EDE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A24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9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5622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C8A6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Agence &amp; mandats RP</c:v>
                  </c:pt>
                  <c:pt idx="1">
                    <c:v>Influenceurs gérés</c:v>
                  </c:pt>
                  <c:pt idx="2">
                    <c:v>Spark &amp; Match Pass</c:v>
                  </c:pt>
                  <c:pt idx="3">
                    <c:v>Abonnements Pro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50.5</c:v>
                </c:pt>
                <c:pt idx="1">
                  <c:v>22.7</c:v>
                </c:pt>
                <c:pt idx="2">
                  <c:v>16.7</c:v>
                </c:pt>
                <c:pt idx="3">
                  <c:v>10.1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F2EDE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F2EDE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80C16"/>
        </a:solidFill>
        <a:ln>
          <a:noFill/>
        </a:ln>
        <a:effectLst/>
      </c:spPr>
    </c:plotArea>
    <c:plotVisOnly val="1"/>
    <c:dispBlanksAs val="span"/>
  </c:chart>
  <c:spPr>
    <a:solidFill>
      <a:srgbClr val="080C1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Bayele — plateforme d’escrow pour l’influence nano et la stratégie média en Afrique francophone (Cameroun, Côte d’Ivoire, Gabon).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Clôture — vision, marchés et contact.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0" y="-3108960"/>
            <a:ext cx="7772400" cy="7772400"/>
          </a:xfrm>
          <a:prstGeom prst="ellipse">
            <a:avLst/>
          </a:prstGeom>
          <a:solidFill>
            <a:srgbClr val="C9A24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206240"/>
            <a:ext cx="6858000" cy="6858000"/>
          </a:xfrm>
          <a:prstGeom prst="ellipse">
            <a:avLst/>
          </a:prstGeom>
          <a:solidFill>
            <a:srgbClr val="B5622E">
              <a:alpha val="9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BAYELE TECHNOLOGIES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0" y="502920"/>
            <a:ext cx="5879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50" kern="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CAMEROUN · CÔTE D’IVOIRE · GABON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914400"/>
            <a:ext cx="10908792" cy="0"/>
          </a:xfrm>
          <a:prstGeom prst="line">
            <a:avLst/>
          </a:prstGeom>
          <a:noFill/>
          <a:ln w="12700">
            <a:solidFill>
              <a:srgbClr val="2A35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00200"/>
            <a:ext cx="1371600" cy="13716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8" name="Image 0" descr="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" y="1778508"/>
            <a:ext cx="1014984" cy="10149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86000" y="14173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Bayele</a:t>
            </a:r>
            <a:pPr algn="l" indent="0" marL="0">
              <a:buNone/>
            </a:pPr>
            <a:r>
              <a:rPr lang="en-US" sz="7600" b="1" dirty="0">
                <a:solidFill>
                  <a:srgbClr val="E8C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7600" dirty="0"/>
          </a:p>
        </p:txBody>
      </p:sp>
      <p:sp>
        <p:nvSpPr>
          <p:cNvPr id="10" name="Text 7"/>
          <p:cNvSpPr/>
          <p:nvPr/>
        </p:nvSpPr>
        <p:spPr>
          <a:xfrm>
            <a:off x="658368" y="3429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i="1" dirty="0">
                <a:solidFill>
                  <a:srgbClr val="E8C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Monétisez vos statuts. Sécurisez vos campagnes.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658368" y="416052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plateforme d’escrow pour l’influence nano &amp; la stratégie média en Afrique francophone. Les marques financent, les créateurs diffusent, les fonds ne se libèrent que sur preuve — paiement Mobile Money instantané.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58368" y="5440680"/>
            <a:ext cx="3977640" cy="457200"/>
          </a:xfrm>
          <a:prstGeom prst="roundRect">
            <a:avLst>
              <a:gd name="adj" fmla="val 50000"/>
            </a:avLst>
          </a:prstGeom>
          <a:solidFill>
            <a:srgbClr val="13251C"/>
          </a:solidFill>
          <a:ln w="12700">
            <a:solidFill>
              <a:srgbClr val="2E5A3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32688" y="5605272"/>
            <a:ext cx="128016" cy="128016"/>
          </a:xfrm>
          <a:prstGeom prst="ellipse">
            <a:avLst/>
          </a:prstGeom>
          <a:solidFill>
            <a:srgbClr val="9DC2A1"/>
          </a:solidFill>
          <a:ln/>
        </p:spPr>
      </p:sp>
      <p:sp>
        <p:nvSpPr>
          <p:cNvPr id="14" name="Text 11"/>
          <p:cNvSpPr/>
          <p:nvPr/>
        </p:nvSpPr>
        <p:spPr>
          <a:xfrm>
            <a:off x="1170432" y="5440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DC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ÉCONOMIQUE VALIDÉ PAR LE CONSEIL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58368" y="62636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stratégique · Août 2026 · Confidentiel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22376"/>
            <a:ext cx="256032" cy="0"/>
          </a:xfrm>
          <a:prstGeom prst="line">
            <a:avLst/>
          </a:prstGeom>
          <a:noFill/>
          <a:ln w="12700">
            <a:solidFill>
              <a:srgbClr val="D995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7552" y="5486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D99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  LE CONSTAT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fossé entre les marques et la distribution réelle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Afrique francophone, l’audience vit sur WhatsApp et Mobile Money — mais l’infrastructure pour la monétiser en confiance n’existe pas.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5285232" cy="1783080"/>
          </a:xfrm>
          <a:prstGeom prst="roundRect">
            <a:avLst>
              <a:gd name="adj" fmla="val 6154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834640"/>
            <a:ext cx="777240" cy="777240"/>
          </a:xfrm>
          <a:prstGeom prst="ellipse">
            <a:avLst/>
          </a:prstGeom>
          <a:solidFill>
            <a:srgbClr val="131B2E"/>
          </a:solidFill>
          <a:ln w="12700">
            <a:solidFill>
              <a:srgbClr val="B5622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202" y="3036722"/>
            <a:ext cx="373075" cy="3730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38528" y="28072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Créateurs non monétisés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938528" y="32918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milliers de nano-diffuseurs postent chaque jour sur les Statuts WhatsApp et TikTok sans aucun moyen d’en tirer un revenu structuré.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63640" y="2514600"/>
            <a:ext cx="5285232" cy="1783080"/>
          </a:xfrm>
          <a:prstGeom prst="roundRect">
            <a:avLst>
              <a:gd name="adj" fmla="val 6154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0" y="2834640"/>
            <a:ext cx="777240" cy="777240"/>
          </a:xfrm>
          <a:prstGeom prst="ellipse">
            <a:avLst/>
          </a:prstGeom>
          <a:solidFill>
            <a:srgbClr val="131B2E"/>
          </a:solidFill>
          <a:ln w="12700">
            <a:solidFill>
              <a:srgbClr val="B5622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5762" y="3036722"/>
            <a:ext cx="373075" cy="3730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62088" y="28072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Marques sans distribution mesurable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7562088" y="32918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PME et grands comptes n’ont aucun canal fiable pour activer des centaines de relais locaux et prouver le retour sur investissement.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4526280"/>
            <a:ext cx="5285232" cy="1783080"/>
          </a:xfrm>
          <a:prstGeom prst="roundRect">
            <a:avLst>
              <a:gd name="adj" fmla="val 6154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60120" y="4846320"/>
            <a:ext cx="777240" cy="777240"/>
          </a:xfrm>
          <a:prstGeom prst="ellipse">
            <a:avLst/>
          </a:prstGeom>
          <a:solidFill>
            <a:srgbClr val="131B2E"/>
          </a:solidFill>
          <a:ln w="12700">
            <a:solidFill>
              <a:srgbClr val="B5622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202" y="5048402"/>
            <a:ext cx="373075" cy="37307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938528" y="48188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Zéro confiance sur le paiement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1938528" y="530352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séquestre, pas de preuve de diffusion : le créateur craint de ne pas être payé, l’annonceur de payer dans le vide.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63640" y="4526280"/>
            <a:ext cx="5285232" cy="1783080"/>
          </a:xfrm>
          <a:prstGeom prst="roundRect">
            <a:avLst>
              <a:gd name="adj" fmla="val 6154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583680" y="4846320"/>
            <a:ext cx="777240" cy="777240"/>
          </a:xfrm>
          <a:prstGeom prst="ellipse">
            <a:avLst/>
          </a:prstGeom>
          <a:solidFill>
            <a:srgbClr val="131B2E"/>
          </a:solidFill>
          <a:ln w="12700">
            <a:solidFill>
              <a:srgbClr val="B5622E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5762" y="5048402"/>
            <a:ext cx="373075" cy="37307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562088" y="48188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Aucune facturation conforme</a:t>
            </a:r>
            <a:endParaRPr lang="en-US" sz="1650" dirty="0"/>
          </a:p>
        </p:txBody>
      </p:sp>
      <p:sp>
        <p:nvSpPr>
          <p:cNvPr id="25" name="Text 19"/>
          <p:cNvSpPr/>
          <p:nvPr/>
        </p:nvSpPr>
        <p:spPr>
          <a:xfrm>
            <a:off x="7562088" y="530352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entreprises ne peuvent pas déduire fiscalement des dépenses médias sans factures conformes au droit OHADA.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4008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6E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BAYELE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10881360" y="641908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6E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926080"/>
            <a:ext cx="6400800" cy="6400800"/>
          </a:xfrm>
          <a:prstGeom prst="ellipse">
            <a:avLst/>
          </a:prstGeom>
          <a:solidFill>
            <a:srgbClr val="C9A24B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722376"/>
            <a:ext cx="256032" cy="0"/>
          </a:xfrm>
          <a:prstGeom prst="line">
            <a:avLst/>
          </a:prstGeom>
          <a:noFill/>
          <a:ln w="12700">
            <a:solidFill>
              <a:srgbClr val="9DC2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7552" y="5486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9DC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LA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place de marché sécurisée par séquestre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Bayele relie créateurs, consultants et marques autour d’un moteur de séquestre : l’argent est bloqué au lancement et libéré uniquement sur preuve de diffusion vérifiée.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3529584" cy="3063240"/>
          </a:xfrm>
          <a:prstGeom prst="roundRect">
            <a:avLst>
              <a:gd name="adj" fmla="val 3582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127248"/>
            <a:ext cx="914400" cy="914400"/>
          </a:xfrm>
          <a:prstGeom prst="ellipse">
            <a:avLst/>
          </a:prstGeom>
          <a:solidFill>
            <a:srgbClr val="131B2E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3364992"/>
            <a:ext cx="438912" cy="4389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4224528"/>
            <a:ext cx="2798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Séquestre bloqué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05840" y="4754880"/>
            <a:ext cx="2843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budget est bloqué dès le lancement de la campagne. Le créateur est payé dès la validation de la preuve de diffusion (Proof-of-Post).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25112" y="2743200"/>
            <a:ext cx="3529584" cy="3063240"/>
          </a:xfrm>
          <a:prstGeom prst="roundRect">
            <a:avLst>
              <a:gd name="adj" fmla="val 3582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90872" y="3127248"/>
            <a:ext cx="914400" cy="914400"/>
          </a:xfrm>
          <a:prstGeom prst="ellipse">
            <a:avLst/>
          </a:prstGeom>
          <a:solidFill>
            <a:srgbClr val="131B2E"/>
          </a:solidFill>
          <a:ln w="12700">
            <a:solidFill>
              <a:srgbClr val="B5622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3364992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90872" y="4224528"/>
            <a:ext cx="2798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Paiements MoMo instantanés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690872" y="4754880"/>
            <a:ext cx="2843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Retraits instantanés vers MTN MoMo, Orange Money ou Wave, sans frais cachés, dès 1 000 FCFA.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010144" y="2743200"/>
            <a:ext cx="3529584" cy="3063240"/>
          </a:xfrm>
          <a:prstGeom prst="roundRect">
            <a:avLst>
              <a:gd name="adj" fmla="val 3582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75904" y="3127248"/>
            <a:ext cx="914400" cy="914400"/>
          </a:xfrm>
          <a:prstGeom prst="ellipse">
            <a:avLst/>
          </a:prstGeom>
          <a:solidFill>
            <a:srgbClr val="131B2E"/>
          </a:solidFill>
          <a:ln w="12700">
            <a:solidFill>
              <a:srgbClr val="5C8A63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3364992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75904" y="4224528"/>
            <a:ext cx="2798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Conformité OHADA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375904" y="4754880"/>
            <a:ext cx="28437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 déductibles avec identifiants fiscaux (NIU / NCC) pour les PME et agences partenaires.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4008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6E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BAYELE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10881360" y="641908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6E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22376"/>
            <a:ext cx="256032" cy="0"/>
          </a:xfrm>
          <a:prstGeom prst="line">
            <a:avLst/>
          </a:prstGeom>
          <a:noFill/>
          <a:ln w="12700">
            <a:solidFill>
              <a:srgbClr val="D995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7552" y="5486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D99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LE MÉCANISME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financement au paiement, chaque étape est prouvée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cycle unique et entièrement auditée : chaque mouvement de fonds passe par la machine d’état du séquestre et laisse une trace.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1975104" cy="2743200"/>
          </a:xfrm>
          <a:prstGeom prst="roundRect">
            <a:avLst>
              <a:gd name="adj" fmla="val 5556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8072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216152" y="3264408"/>
            <a:ext cx="822960" cy="822960"/>
          </a:xfrm>
          <a:prstGeom prst="ellipse">
            <a:avLst/>
          </a:prstGeom>
          <a:solidFill>
            <a:srgbClr val="131B2E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0122" y="3478378"/>
            <a:ext cx="395021" cy="39502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8096" y="4215384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marque finance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86384" y="466344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préfinancé via facture SokoClick et bloqué en séquestre.</a:t>
            </a:r>
            <a:endParaRPr lang="en-US" sz="103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615" y="3611880"/>
            <a:ext cx="219456" cy="21945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873502" y="2697480"/>
            <a:ext cx="1975104" cy="2743200"/>
          </a:xfrm>
          <a:prstGeom prst="roundRect">
            <a:avLst>
              <a:gd name="adj" fmla="val 5556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010662" y="28072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3449574" y="3264408"/>
            <a:ext cx="822960" cy="822960"/>
          </a:xfrm>
          <a:prstGeom prst="ellipse">
            <a:avLst/>
          </a:prstGeom>
          <a:solidFill>
            <a:srgbClr val="131B2E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3544" y="3478378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001518" y="4215384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Fonds bloqués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019806" y="466344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« held » : l’argent ne bouge plus jusqu’à exécution vérifiée.</a:t>
            </a:r>
            <a:endParaRPr lang="en-US" sz="103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8037" y="3611880"/>
            <a:ext cx="219456" cy="21945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106924" y="2697480"/>
            <a:ext cx="1975104" cy="2743200"/>
          </a:xfrm>
          <a:prstGeom prst="roundRect">
            <a:avLst>
              <a:gd name="adj" fmla="val 5556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244084" y="28072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5682996" y="3264408"/>
            <a:ext cx="822960" cy="822960"/>
          </a:xfrm>
          <a:prstGeom prst="ellipse">
            <a:avLst/>
          </a:prstGeom>
          <a:solidFill>
            <a:srgbClr val="131B2E"/>
          </a:solidFill>
          <a:ln w="12700">
            <a:solidFill>
              <a:srgbClr val="B5622E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6966" y="3478378"/>
            <a:ext cx="395021" cy="39502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234940" y="4215384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créateur diffuse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5253228" y="466344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WhatsApp posté ; capture horodatée soumise comme preuve.</a:t>
            </a:r>
            <a:endParaRPr lang="en-US" sz="103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1459" y="3611880"/>
            <a:ext cx="219456" cy="219456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7340346" y="2697480"/>
            <a:ext cx="1975104" cy="2743200"/>
          </a:xfrm>
          <a:prstGeom prst="roundRect">
            <a:avLst>
              <a:gd name="adj" fmla="val 5556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7477506" y="28072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Shape 21"/>
          <p:cNvSpPr/>
          <p:nvPr/>
        </p:nvSpPr>
        <p:spPr>
          <a:xfrm>
            <a:off x="7916418" y="3264408"/>
            <a:ext cx="822960" cy="822960"/>
          </a:xfrm>
          <a:prstGeom prst="ellipse">
            <a:avLst/>
          </a:prstGeom>
          <a:solidFill>
            <a:srgbClr val="131B2E"/>
          </a:solidFill>
          <a:ln w="12700">
            <a:solidFill>
              <a:srgbClr val="B5622E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0388" y="3478378"/>
            <a:ext cx="395021" cy="395021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468362" y="4215384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Preuve validée</a:t>
            </a:r>
            <a:endParaRPr lang="en-US" sz="1400" dirty="0"/>
          </a:p>
        </p:txBody>
      </p:sp>
      <p:sp>
        <p:nvSpPr>
          <p:cNvPr id="32" name="Text 23"/>
          <p:cNvSpPr/>
          <p:nvPr/>
        </p:nvSpPr>
        <p:spPr>
          <a:xfrm>
            <a:off x="7486650" y="466344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IA (Gemini) en appui, mais validation humaine obligatoire.</a:t>
            </a:r>
            <a:endParaRPr lang="en-US" sz="103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4881" y="3611880"/>
            <a:ext cx="219456" cy="219456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9573768" y="2697480"/>
            <a:ext cx="1975104" cy="2743200"/>
          </a:xfrm>
          <a:prstGeom prst="roundRect">
            <a:avLst>
              <a:gd name="adj" fmla="val 5556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9710928" y="28072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3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6" name="Shape 26"/>
          <p:cNvSpPr/>
          <p:nvPr/>
        </p:nvSpPr>
        <p:spPr>
          <a:xfrm>
            <a:off x="10149840" y="3264408"/>
            <a:ext cx="822960" cy="822960"/>
          </a:xfrm>
          <a:prstGeom prst="ellipse">
            <a:avLst/>
          </a:prstGeom>
          <a:solidFill>
            <a:srgbClr val="131B2E"/>
          </a:solidFill>
          <a:ln w="12700">
            <a:solidFill>
              <a:srgbClr val="5C8A63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63810" y="3478378"/>
            <a:ext cx="395021" cy="395021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9701784" y="4215384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Paiement MoMo</a:t>
            </a:r>
            <a:endParaRPr lang="en-US" sz="1400" dirty="0"/>
          </a:p>
        </p:txBody>
      </p:sp>
      <p:sp>
        <p:nvSpPr>
          <p:cNvPr id="39" name="Text 28"/>
          <p:cNvSpPr/>
          <p:nvPr/>
        </p:nvSpPr>
        <p:spPr>
          <a:xfrm>
            <a:off x="9720072" y="466344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séquestre bascule et déclenche le versement instantané.</a:t>
            </a:r>
            <a:endParaRPr lang="en-US" sz="1030" dirty="0"/>
          </a:p>
        </p:txBody>
      </p:sp>
      <p:sp>
        <p:nvSpPr>
          <p:cNvPr id="40" name="Shape 29"/>
          <p:cNvSpPr/>
          <p:nvPr/>
        </p:nvSpPr>
        <p:spPr>
          <a:xfrm>
            <a:off x="640080" y="5715000"/>
            <a:ext cx="10908792" cy="566928"/>
          </a:xfrm>
          <a:prstGeom prst="roundRect">
            <a:avLst>
              <a:gd name="adj" fmla="val 16129"/>
            </a:avLst>
          </a:prstGeom>
          <a:solidFill>
            <a:srgbClr val="13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868680" y="571500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C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Garantie d’intégrité : </a:t>
            </a:r>
            <a:pPr indent="0" marL="0">
              <a:buNone/>
            </a:pPr>
            <a:r>
              <a:rPr lang="en-US" sz="120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franc ne bouge sans une ligne dans le journal d’audit du séquestre. La libération reste une décision humaine.</a:t>
            </a:r>
            <a:endParaRPr lang="en-US" sz="1200" dirty="0"/>
          </a:p>
        </p:txBody>
      </p:sp>
      <p:sp>
        <p:nvSpPr>
          <p:cNvPr id="42" name="Text 31"/>
          <p:cNvSpPr/>
          <p:nvPr/>
        </p:nvSpPr>
        <p:spPr>
          <a:xfrm>
            <a:off x="64008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6E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BAYELE</a:t>
            </a:r>
            <a:endParaRPr lang="en-US" sz="850" dirty="0"/>
          </a:p>
        </p:txBody>
      </p:sp>
      <p:sp>
        <p:nvSpPr>
          <p:cNvPr id="43" name="Text 32"/>
          <p:cNvSpPr/>
          <p:nvPr/>
        </p:nvSpPr>
        <p:spPr>
          <a:xfrm>
            <a:off x="10881360" y="641908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6E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22376"/>
            <a:ext cx="256032" cy="0"/>
          </a:xfrm>
          <a:prstGeom prst="line">
            <a:avLst/>
          </a:prstGeom>
          <a:noFill/>
          <a:ln w="12700">
            <a:solidFill>
              <a:srgbClr val="D995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7552" y="5486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D99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L’ÉCOSYSTÈME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acteurs, un seul moteur de confiance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85232" cy="1920240"/>
          </a:xfrm>
          <a:prstGeom prst="roundRect">
            <a:avLst>
              <a:gd name="adj" fmla="val 5714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2377440"/>
            <a:ext cx="914400" cy="914400"/>
          </a:xfrm>
          <a:prstGeom prst="ellipse">
            <a:avLst/>
          </a:prstGeom>
          <a:solidFill>
            <a:srgbClr val="131B2E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261518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103120" y="21671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Marques &amp; entreprises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103120" y="2660904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Financent les campagnes via séquestre et Match Pass. Profil société, création en libre-service, portail de factures.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1874520"/>
            <a:ext cx="5285232" cy="1920240"/>
          </a:xfrm>
          <a:prstGeom prst="roundRect">
            <a:avLst>
              <a:gd name="adj" fmla="val 5714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11112" y="2377440"/>
            <a:ext cx="914400" cy="914400"/>
          </a:xfrm>
          <a:prstGeom prst="ellipse">
            <a:avLst/>
          </a:prstGeom>
          <a:solidFill>
            <a:srgbClr val="131B2E"/>
          </a:solidFill>
          <a:ln w="12700">
            <a:solidFill>
              <a:srgbClr val="B5622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856" y="261518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26680" y="21671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Consultants d’agence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726680" y="2660904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Gèrent des mandats, interrogent la base créateurs, déploient les briefs. Commission plateforme jusqu’à 25 %.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3977640"/>
            <a:ext cx="5285232" cy="1920240"/>
          </a:xfrm>
          <a:prstGeom prst="roundRect">
            <a:avLst>
              <a:gd name="adj" fmla="val 5714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87552" y="4480560"/>
            <a:ext cx="914400" cy="914400"/>
          </a:xfrm>
          <a:prstGeom prst="ellipse">
            <a:avLst/>
          </a:prstGeom>
          <a:solidFill>
            <a:srgbClr val="131B2E"/>
          </a:solidFill>
          <a:ln w="12700">
            <a:solidFill>
              <a:srgbClr val="5C8A6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4718304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103120" y="42702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Nano-créateurs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2103120" y="4764024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Diffusent sur WhatsApp / TikTok et sont payés en Mobile Money dès validation de la preuve de diffusion.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63640" y="3977640"/>
            <a:ext cx="5285232" cy="1920240"/>
          </a:xfrm>
          <a:prstGeom prst="roundRect">
            <a:avLst>
              <a:gd name="adj" fmla="val 5714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611112" y="4480560"/>
            <a:ext cx="914400" cy="914400"/>
          </a:xfrm>
          <a:prstGeom prst="ellipse">
            <a:avLst/>
          </a:prstGeom>
          <a:solidFill>
            <a:srgbClr val="131B2E"/>
          </a:solidFill>
          <a:ln w="12700">
            <a:solidFill>
              <a:srgbClr val="F2EDE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56" y="4718304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26680" y="42702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 Admin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726680" y="4764024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Modère les profils, supervise le séquestre et les litiges. La confiance de la plateforme, garantie humainement.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40080" y="61264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8C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Cœur Bayele : machine d’état du séquestre · file de revue Proof-of-Post assistée par IA · bus de notifications temps réel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4008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6E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BAYELE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10881360" y="641908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6E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6400800" cy="6400800"/>
          </a:xfrm>
          <a:prstGeom prst="ellipse">
            <a:avLst/>
          </a:prstGeom>
          <a:solidFill>
            <a:srgbClr val="B5622E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722376"/>
            <a:ext cx="256032" cy="0"/>
          </a:xfrm>
          <a:prstGeom prst="line">
            <a:avLst/>
          </a:prstGeom>
          <a:noFill/>
          <a:ln w="12700">
            <a:solidFill>
              <a:srgbClr val="D995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7552" y="5486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D99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POURQUOI MAINTENANT, POURQUOI ICI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marchés, une même dynamique mobile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074920" cy="1170432"/>
          </a:xfrm>
          <a:prstGeom prst="roundRect">
            <a:avLst>
              <a:gd name="adj" fmla="val 9375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488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🇨🇲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874520" y="218541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Cameroun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74520" y="26243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Douala · Yaoundé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0" y="1965960"/>
            <a:ext cx="1737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E8C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+237 · XAF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264408"/>
            <a:ext cx="5074920" cy="1170432"/>
          </a:xfrm>
          <a:prstGeom prst="roundRect">
            <a:avLst>
              <a:gd name="adj" fmla="val 9375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44728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🇨🇮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1874520" y="348386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Côte d’Ivoire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74520" y="392277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Abidjan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0" y="3264408"/>
            <a:ext cx="1737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E8C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+225 · XOF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562856"/>
            <a:ext cx="5074920" cy="1170432"/>
          </a:xfrm>
          <a:prstGeom prst="roundRect">
            <a:avLst>
              <a:gd name="adj" fmla="val 9375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745736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🇬🇦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874520" y="47823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74520" y="52212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Libreville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31920" y="4562856"/>
            <a:ext cx="1737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00" kern="0" dirty="0">
                <a:solidFill>
                  <a:srgbClr val="E8C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+241 · XAF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1874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9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MOTEURS STRUCTURELS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2331720"/>
            <a:ext cx="658368" cy="658368"/>
          </a:xfrm>
          <a:prstGeom prst="ellipse">
            <a:avLst/>
          </a:prstGeom>
          <a:solidFill>
            <a:srgbClr val="131B2E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4816" y="2502896"/>
            <a:ext cx="316017" cy="316017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086600" y="2258568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Status comme média de masse — l’audience est déjà là, tous les jours.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263640" y="3264408"/>
            <a:ext cx="658368" cy="658368"/>
          </a:xfrm>
          <a:prstGeom prst="ellipse">
            <a:avLst/>
          </a:prstGeom>
          <a:solidFill>
            <a:srgbClr val="131B2E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816" y="3435584"/>
            <a:ext cx="316017" cy="316017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086600" y="3191256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 (MTN, Orange, Wave) omniprésent : le rail de paiement existe et est adopté.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263640" y="4197096"/>
            <a:ext cx="658368" cy="658368"/>
          </a:xfrm>
          <a:prstGeom prst="ellipse">
            <a:avLst/>
          </a:prstGeom>
          <a:solidFill>
            <a:srgbClr val="131B2E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816" y="4368272"/>
            <a:ext cx="316017" cy="316017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7086600" y="4123944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Parité 1:1 XAF/XOF : une grille tarifaire homogène sur les trois pays.</a:t>
            </a:r>
            <a:endParaRPr lang="en-US" sz="1250" dirty="0"/>
          </a:p>
        </p:txBody>
      </p:sp>
      <p:sp>
        <p:nvSpPr>
          <p:cNvPr id="31" name="Shape 26"/>
          <p:cNvSpPr/>
          <p:nvPr/>
        </p:nvSpPr>
        <p:spPr>
          <a:xfrm>
            <a:off x="6263640" y="5129784"/>
            <a:ext cx="658368" cy="658368"/>
          </a:xfrm>
          <a:prstGeom prst="ellipse">
            <a:avLst/>
          </a:prstGeom>
          <a:solidFill>
            <a:srgbClr val="131B2E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4816" y="5300960"/>
            <a:ext cx="316017" cy="316017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086600" y="5056632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2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OHADA commun : une seule logique de facturation conforme pour toute la région.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64008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6E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BAYELE</a:t>
            </a:r>
            <a:endParaRPr lang="en-US" sz="850" dirty="0"/>
          </a:p>
        </p:txBody>
      </p:sp>
      <p:sp>
        <p:nvSpPr>
          <p:cNvPr id="35" name="Text 29"/>
          <p:cNvSpPr/>
          <p:nvPr/>
        </p:nvSpPr>
        <p:spPr>
          <a:xfrm>
            <a:off x="10881360" y="641908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6E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926080"/>
            <a:ext cx="6400800" cy="6400800"/>
          </a:xfrm>
          <a:prstGeom prst="ellipse">
            <a:avLst/>
          </a:prstGeom>
          <a:solidFill>
            <a:srgbClr val="C9A24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722376"/>
            <a:ext cx="256032" cy="0"/>
          </a:xfrm>
          <a:prstGeom prst="line">
            <a:avLst/>
          </a:prstGeom>
          <a:noFill/>
          <a:ln w="12700">
            <a:solidFill>
              <a:srgbClr val="D995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7552" y="5486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D99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—  MODÈLE ÉCONOMIQUE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pyramide de valeur Bayele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fidélise des milliers de micro-distributeurs ; l’Agence valorise cette force de frappe auprès des grands comptes à forte marge.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5257800" cy="2880360"/>
          </a:xfrm>
          <a:prstGeom prst="roundRect">
            <a:avLst>
              <a:gd name="adj" fmla="val 3810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291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9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VERDICT STRATÉGIQUE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63931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2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places de marché pures souffrent de faibles marges au démarrage ; les agences traditionnelles ne savent pas scaler.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46177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8C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Bayele combine les deux : le volume du libre-service finance l’acquisition, les mandats corporate portent la rentabilité — dès le premier jour.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 flipV="1">
            <a:off x="7132320" y="2542032"/>
            <a:ext cx="3383280" cy="822960"/>
          </a:xfrm>
          <a:prstGeom prst="trapezoid">
            <a:avLst/>
          </a:prstGeom>
          <a:solidFill>
            <a:srgbClr val="C9A24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132320" y="264261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3A2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FORTES MARGES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132320" y="28346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C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Agence Bayele — 25 %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0" y="31089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2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Mandats RP, com &amp; croissance B2B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 flipV="1">
            <a:off x="6720840" y="3438144"/>
            <a:ext cx="4206240" cy="822960"/>
          </a:xfrm>
          <a:prstGeom prst="trapezoid">
            <a:avLst/>
          </a:prstGeom>
          <a:solidFill>
            <a:srgbClr val="D8A95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20840" y="353872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3A2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EN MAIN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720840" y="37307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C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Élite Délégué — 15 %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20840" y="400507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2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d’influenceurs établis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 flipV="1">
            <a:off x="6309360" y="4334256"/>
            <a:ext cx="5029200" cy="822960"/>
          </a:xfrm>
          <a:prstGeom prst="trapezoid">
            <a:avLst/>
          </a:prstGeom>
          <a:solidFill>
            <a:srgbClr val="D9956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09360" y="443484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3A2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REVENUS RÉCURRENTS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09360" y="462686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C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 SaaS — MRR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49011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2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 à 15 000 FCFA / mois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 flipV="1">
            <a:off x="5897880" y="5230368"/>
            <a:ext cx="5852160" cy="822960"/>
          </a:xfrm>
          <a:prstGeom prst="trapezoid">
            <a:avLst/>
          </a:prstGeom>
          <a:solidFill>
            <a:srgbClr val="9A4F24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897880" y="5330952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3A2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MASSIF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897880" y="552297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C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Libre-Service — 10 %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897880" y="5797296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2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Pass &amp; séquestre MoMo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0" y="61996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spc="100" kern="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marge croissante — apex à forte valeur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008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6E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BAYELE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0881360" y="641908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6E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22376"/>
            <a:ext cx="256032" cy="0"/>
          </a:xfrm>
          <a:prstGeom prst="line">
            <a:avLst/>
          </a:prstGeom>
          <a:noFill/>
          <a:ln w="12700">
            <a:solidFill>
              <a:srgbClr val="D995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7552" y="5486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D99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—  ARCHITECTURE DES REVENUS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4 piliers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08792" cy="1060704"/>
          </a:xfrm>
          <a:prstGeom prst="roundRect">
            <a:avLst>
              <a:gd name="adj" fmla="val 10345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993392"/>
            <a:ext cx="731520" cy="731520"/>
          </a:xfrm>
          <a:prstGeom prst="ellipse">
            <a:avLst/>
          </a:prstGeom>
          <a:solidFill>
            <a:srgbClr val="131B2E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" y="2183587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197510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libre-service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874520" y="24323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locales, boutiques, étudiants revendeurs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257800" y="2121408"/>
            <a:ext cx="1051560" cy="475488"/>
          </a:xfrm>
          <a:prstGeom prst="roundRect">
            <a:avLst>
              <a:gd name="adj" fmla="val 19231"/>
            </a:avLst>
          </a:prstGeom>
          <a:solidFill>
            <a:srgbClr val="131B2E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57800" y="2121408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C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10 %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537960" y="1828800"/>
            <a:ext cx="482803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2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Contact 1 500 FCFA · séquestre 10 % · retrait MoMo 1,5 %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2999232"/>
            <a:ext cx="10908792" cy="1060704"/>
          </a:xfrm>
          <a:prstGeom prst="roundRect">
            <a:avLst>
              <a:gd name="adj" fmla="val 10345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32688" y="3163824"/>
            <a:ext cx="731520" cy="731520"/>
          </a:xfrm>
          <a:prstGeom prst="ellipse">
            <a:avLst/>
          </a:prstGeom>
          <a:solidFill>
            <a:srgbClr val="131B2E"/>
          </a:solidFill>
          <a:ln w="12700">
            <a:solidFill>
              <a:srgbClr val="D8A95F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" y="3354019"/>
            <a:ext cx="351130" cy="35113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874520" y="31455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Abonnements Pro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1874520" y="36027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Nano-créateurs actifs, PME en croissance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257800" y="3291840"/>
            <a:ext cx="1051560" cy="475488"/>
          </a:xfrm>
          <a:prstGeom prst="roundRect">
            <a:avLst>
              <a:gd name="adj" fmla="val 19231"/>
            </a:avLst>
          </a:prstGeom>
          <a:solidFill>
            <a:srgbClr val="131B2E"/>
          </a:solidFill>
          <a:ln w="12700">
            <a:solidFill>
              <a:srgbClr val="D8A95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257800" y="3291840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C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MRR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6537960" y="2999232"/>
            <a:ext cx="482803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2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Pro 5 000 FCFA/mois · Pass Growth PME 15 000 FCFA/mois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40080" y="4169664"/>
            <a:ext cx="10908792" cy="1060704"/>
          </a:xfrm>
          <a:prstGeom prst="roundRect">
            <a:avLst>
              <a:gd name="adj" fmla="val 10345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932688" y="4334256"/>
            <a:ext cx="731520" cy="731520"/>
          </a:xfrm>
          <a:prstGeom prst="ellipse">
            <a:avLst/>
          </a:prstGeom>
          <a:solidFill>
            <a:srgbClr val="131B2E"/>
          </a:solidFill>
          <a:ln w="12700">
            <a:solidFill>
              <a:srgbClr val="D99568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883" y="4524451"/>
            <a:ext cx="351130" cy="35113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874520" y="43159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Influenceurs gérés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1874520" y="47731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Micro-influenceurs établis, marques structurées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5257800" y="4462272"/>
            <a:ext cx="1051560" cy="475488"/>
          </a:xfrm>
          <a:prstGeom prst="roundRect">
            <a:avLst>
              <a:gd name="adj" fmla="val 19231"/>
            </a:avLst>
          </a:prstGeom>
          <a:solidFill>
            <a:srgbClr val="131B2E"/>
          </a:solidFill>
          <a:ln w="12700">
            <a:solidFill>
              <a:srgbClr val="D99568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257800" y="4462272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C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15 %</a:t>
            </a:r>
            <a:endParaRPr lang="en-US" sz="1700" dirty="0"/>
          </a:p>
        </p:txBody>
      </p:sp>
      <p:sp>
        <p:nvSpPr>
          <p:cNvPr id="28" name="Text 23"/>
          <p:cNvSpPr/>
          <p:nvPr/>
        </p:nvSpPr>
        <p:spPr>
          <a:xfrm>
            <a:off x="6537960" y="4169664"/>
            <a:ext cx="482803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2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 du budget global · badge annuel 25 000 FCFA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640080" y="5340096"/>
            <a:ext cx="10908792" cy="1060704"/>
          </a:xfrm>
          <a:prstGeom prst="roundRect">
            <a:avLst>
              <a:gd name="adj" fmla="val 10345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932688" y="5504688"/>
            <a:ext cx="731520" cy="731520"/>
          </a:xfrm>
          <a:prstGeom prst="ellipse">
            <a:avLst/>
          </a:prstGeom>
          <a:solidFill>
            <a:srgbClr val="131B2E"/>
          </a:solidFill>
          <a:ln w="12700">
            <a:solidFill>
              <a:srgbClr val="B5622E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883" y="5694883"/>
            <a:ext cx="351130" cy="35113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874520" y="5486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Agence &amp; mandats RP</a:t>
            </a:r>
            <a:endParaRPr lang="en-US" sz="1700" dirty="0"/>
          </a:p>
        </p:txBody>
      </p:sp>
      <p:sp>
        <p:nvSpPr>
          <p:cNvPr id="33" name="Text 27"/>
          <p:cNvSpPr/>
          <p:nvPr/>
        </p:nvSpPr>
        <p:spPr>
          <a:xfrm>
            <a:off x="1874520" y="5943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Entreprises régionales, ONG, diasporas, télécoms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5257800" y="5632704"/>
            <a:ext cx="1051560" cy="475488"/>
          </a:xfrm>
          <a:prstGeom prst="roundRect">
            <a:avLst>
              <a:gd name="adj" fmla="val 19231"/>
            </a:avLst>
          </a:prstGeom>
          <a:solidFill>
            <a:srgbClr val="131B2E"/>
          </a:solidFill>
          <a:ln w="12700">
            <a:solidFill>
              <a:srgbClr val="B5622E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5257800" y="5632704"/>
            <a:ext cx="1051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C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25 %</a:t>
            </a:r>
            <a:endParaRPr lang="en-US" sz="1700" dirty="0"/>
          </a:p>
        </p:txBody>
      </p:sp>
      <p:sp>
        <p:nvSpPr>
          <p:cNvPr id="36" name="Text 30"/>
          <p:cNvSpPr/>
          <p:nvPr/>
        </p:nvSpPr>
        <p:spPr>
          <a:xfrm>
            <a:off x="6537960" y="5340096"/>
            <a:ext cx="482803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2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25 % du mandat · 75 % au consultant/média · prime d’objectifs 5 %</a:t>
            </a:r>
            <a:endParaRPr lang="en-US" sz="1150" dirty="0"/>
          </a:p>
        </p:txBody>
      </p:sp>
      <p:sp>
        <p:nvSpPr>
          <p:cNvPr id="37" name="Text 31"/>
          <p:cNvSpPr/>
          <p:nvPr/>
        </p:nvSpPr>
        <p:spPr>
          <a:xfrm>
            <a:off x="64008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6E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BAYELE</a:t>
            </a:r>
            <a:endParaRPr lang="en-US" sz="850" dirty="0"/>
          </a:p>
        </p:txBody>
      </p:sp>
      <p:sp>
        <p:nvSpPr>
          <p:cNvPr id="38" name="Text 32"/>
          <p:cNvSpPr/>
          <p:nvPr/>
        </p:nvSpPr>
        <p:spPr>
          <a:xfrm>
            <a:off x="10881360" y="641908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6E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22376"/>
            <a:ext cx="256032" cy="0"/>
          </a:xfrm>
          <a:prstGeom prst="line">
            <a:avLst/>
          </a:prstGeom>
          <a:noFill/>
          <a:ln w="12700">
            <a:solidFill>
              <a:srgbClr val="D995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7552" y="5486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D99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—  RENTABILITÉ UNITAIRE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marges qui montent avec la valeur du contrat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529584" cy="4160520"/>
          </a:xfrm>
          <a:prstGeom prst="roundRect">
            <a:avLst>
              <a:gd name="adj" fmla="val 3109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0312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9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60120" y="2395728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Micro-campagne Spark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31546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8C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pPr algn="l" indent="0" marL="0">
              <a:buNone/>
            </a:pPr>
            <a:r>
              <a:rPr lang="en-US" sz="2200" b="1" dirty="0">
                <a:solidFill>
                  <a:srgbClr val="E8C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960120" y="4041648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sur coûts directs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60120" y="4434840"/>
            <a:ext cx="2889504" cy="0"/>
          </a:xfrm>
          <a:prstGeom prst="line">
            <a:avLst/>
          </a:prstGeom>
          <a:noFill/>
          <a:ln w="12700">
            <a:solidFill>
              <a:srgbClr val="2A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5720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du contrat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4572000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20 000 FCFA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49194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Reversé créateurs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94560" y="4919472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18 000 FCFA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526694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brut Bayele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94560" y="5266944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2 000 FCFA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56144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nette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0" y="5614416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C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1 600 FCFA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25112" y="1828800"/>
            <a:ext cx="3529584" cy="4160520"/>
          </a:xfrm>
          <a:prstGeom prst="roundRect">
            <a:avLst>
              <a:gd name="adj" fmla="val 3109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210312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9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B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45152" y="2395728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 Créateur Pro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17720" y="31546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8C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86,6</a:t>
            </a:r>
            <a:pPr algn="l" indent="0" marL="0">
              <a:buNone/>
            </a:pPr>
            <a:r>
              <a:rPr lang="en-US" sz="2200" b="1" dirty="0">
                <a:solidFill>
                  <a:srgbClr val="E8C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%</a:t>
            </a:r>
            <a:endParaRPr lang="en-US" sz="5200" dirty="0"/>
          </a:p>
        </p:txBody>
      </p:sp>
      <p:sp>
        <p:nvSpPr>
          <p:cNvPr id="23" name="Text 21"/>
          <p:cNvSpPr/>
          <p:nvPr/>
        </p:nvSpPr>
        <p:spPr>
          <a:xfrm>
            <a:off x="4645152" y="4041648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sur coûts directs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45152" y="4434840"/>
            <a:ext cx="2889504" cy="0"/>
          </a:xfrm>
          <a:prstGeom prst="line">
            <a:avLst/>
          </a:prstGeom>
          <a:noFill/>
          <a:ln w="12700">
            <a:solidFill>
              <a:srgbClr val="2A35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45152" y="45720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du contrat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79592" y="4572000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150 000 FCFA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45152" y="49194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Reversé créateur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79592" y="4919472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127 500 FCFA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45152" y="526694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brut Bayele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79592" y="5266944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22 500 FCFA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45152" y="56144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nette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79592" y="5614416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C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19 500 FCFA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10144" y="1828800"/>
            <a:ext cx="3529584" cy="4160520"/>
          </a:xfrm>
          <a:prstGeom prst="roundRect">
            <a:avLst>
              <a:gd name="adj" fmla="val 3109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30184" y="210312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9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C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330184" y="2395728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Mandat Agence Corporate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302752" y="3154680"/>
            <a:ext cx="2980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8C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</a:t>
            </a:r>
            <a:pPr algn="l" indent="0" marL="0">
              <a:buNone/>
            </a:pPr>
            <a:r>
              <a:rPr lang="en-US" sz="2200" b="1" dirty="0">
                <a:solidFill>
                  <a:srgbClr val="E8C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%</a:t>
            </a:r>
            <a:endParaRPr lang="en-US" sz="5200" dirty="0"/>
          </a:p>
        </p:txBody>
      </p:sp>
      <p:sp>
        <p:nvSpPr>
          <p:cNvPr id="37" name="Text 35"/>
          <p:cNvSpPr/>
          <p:nvPr/>
        </p:nvSpPr>
        <p:spPr>
          <a:xfrm>
            <a:off x="8330184" y="4041648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sur coûts directs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330184" y="4434840"/>
            <a:ext cx="2889504" cy="0"/>
          </a:xfrm>
          <a:prstGeom prst="line">
            <a:avLst/>
          </a:prstGeom>
          <a:noFill/>
          <a:ln w="12700">
            <a:solidFill>
              <a:srgbClr val="2A35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30184" y="45720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du contrat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564624" y="4572000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2 000 000 FCFA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330184" y="49194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+ média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564624" y="4919472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1 500 000 FCFA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330184" y="526694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brut Bayele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564624" y="5266944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2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500 000 FCFA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330184" y="56144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nette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564624" y="5614416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C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460 000 FCFA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008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6E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BAYELE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0881360" y="641908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6E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22376"/>
            <a:ext cx="256032" cy="0"/>
          </a:xfrm>
          <a:prstGeom prst="line">
            <a:avLst/>
          </a:prstGeom>
          <a:noFill/>
          <a:ln w="12700">
            <a:solidFill>
              <a:srgbClr val="D995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7552" y="5486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D99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—  FOCUS OPÉRATIONNEL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 financier d’un mandat à 1 000 000 FCFA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6400800" cy="566928"/>
          </a:xfrm>
          <a:prstGeom prst="roundRect">
            <a:avLst>
              <a:gd name="adj" fmla="val 16129"/>
            </a:avLst>
          </a:prstGeom>
          <a:solidFill>
            <a:srgbClr val="13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6596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entreprise  →  Trésorerie séquestre Bayele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256946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répartition du mandat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999232"/>
            <a:ext cx="3108960" cy="1188720"/>
          </a:xfrm>
          <a:prstGeom prst="roundRect">
            <a:avLst>
              <a:gd name="adj" fmla="val 9231"/>
            </a:avLst>
          </a:prstGeom>
          <a:solidFill>
            <a:srgbClr val="C9A24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145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3A2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PRÉLÈVEMENT BAYELE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4015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0C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40080" y="3858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250 000 FCFA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931920" y="2999232"/>
            <a:ext cx="3108960" cy="1188720"/>
          </a:xfrm>
          <a:prstGeom prst="roundRect">
            <a:avLst>
              <a:gd name="adj" fmla="val 9231"/>
            </a:avLst>
          </a:prstGeom>
          <a:solidFill>
            <a:srgbClr val="131B2E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3145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D99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ENVELOPPE OPÉRATIONNELLE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31920" y="34015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75 %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931920" y="3858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C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750 000 FCFA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31920" y="4206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ventilation des 75 %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31920" y="4709160"/>
            <a:ext cx="1481328" cy="1051560"/>
          </a:xfrm>
          <a:prstGeom prst="roundRect">
            <a:avLst>
              <a:gd name="adj" fmla="val 8696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68496" y="4855464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Honoraires consultant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968496" y="5276088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300 000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559552" y="4709160"/>
            <a:ext cx="1481328" cy="1051560"/>
          </a:xfrm>
          <a:prstGeom prst="roundRect">
            <a:avLst>
              <a:gd name="adj" fmla="val 8696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96128" y="4818888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média (50 créateurs)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596128" y="5312664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450 000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52360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9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VERROUS ANTI-FUITE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52360" y="2395728"/>
            <a:ext cx="402336" cy="402336"/>
          </a:xfrm>
          <a:prstGeom prst="ellipse">
            <a:avLst/>
          </a:prstGeom>
          <a:solidFill>
            <a:srgbClr val="131B2E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C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01000" y="23225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créateurs privilégiée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01000" y="263347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filtrée par ville, démographie et taux de conversion passé.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52360" y="3355848"/>
            <a:ext cx="402336" cy="402336"/>
          </a:xfrm>
          <a:prstGeom prst="ellipse">
            <a:avLst/>
          </a:prstGeom>
          <a:solidFill>
            <a:srgbClr val="131B2E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52360" y="3355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C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001000" y="32826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Déploiement groupé instantané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001000" y="359359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négociations et 50 transferts Mobile Money en un seul clic.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52360" y="4315968"/>
            <a:ext cx="402336" cy="402336"/>
          </a:xfrm>
          <a:prstGeom prst="ellipse">
            <a:avLst/>
          </a:prstGeom>
          <a:solidFill>
            <a:srgbClr val="131B2E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52360" y="4315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C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001000" y="42428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Facturation conforme OHADA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001000" y="455371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Contrats directs et factures certifiées, hors de portée d’un freelance seul.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452360" y="5276088"/>
            <a:ext cx="402336" cy="402336"/>
          </a:xfrm>
          <a:prstGeom prst="ellipse">
            <a:avLst/>
          </a:prstGeom>
          <a:solidFill>
            <a:srgbClr val="131B2E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52360" y="5276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C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001000" y="52029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Non-contournement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001000" y="551383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détournement : suspension d’accès, séquestre confisqué, bannissement.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6E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BAYELE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0881360" y="641908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6E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3291840"/>
            <a:ext cx="6400800" cy="6400800"/>
          </a:xfrm>
          <a:prstGeom prst="ellipse">
            <a:avLst/>
          </a:prstGeom>
          <a:solidFill>
            <a:srgbClr val="C9A24B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722376"/>
            <a:ext cx="256032" cy="0"/>
          </a:xfrm>
          <a:prstGeom prst="line">
            <a:avLst/>
          </a:prstGeom>
          <a:noFill/>
          <a:ln w="12700">
            <a:solidFill>
              <a:srgbClr val="D995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7552" y="5486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D99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—  PROJECTION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 de revenus mensuel visé — M12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200400" cy="4023360"/>
          </a:xfrm>
          <a:prstGeom prst="roundRect">
            <a:avLst>
              <a:gd name="adj" fmla="val 3429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99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MENSUEL PROJETÉ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" y="25146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C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24,75M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868680" y="3364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 / mois  ·  ≈ 40 000 $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794760"/>
            <a:ext cx="2743200" cy="0"/>
          </a:xfrm>
          <a:prstGeom prst="line">
            <a:avLst/>
          </a:prstGeom>
          <a:noFill/>
          <a:ln w="12700">
            <a:solidFill>
              <a:srgbClr val="2A35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977640"/>
            <a:ext cx="2788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L’Agence porte plus de la moitié du chiffre d’affaires,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tandis que Spark et le SaaS assurent le volume et la récurrence.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160520" y="1920240"/>
          <a:ext cx="74066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64008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6E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BAYELE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881360" y="641908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6E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22376"/>
            <a:ext cx="256032" cy="0"/>
          </a:xfrm>
          <a:prstGeom prst="line">
            <a:avLst/>
          </a:prstGeom>
          <a:noFill/>
          <a:ln w="12700">
            <a:solidFill>
              <a:srgbClr val="D995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7552" y="5486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D99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—  EFFET DE LEVIER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volant MunaBay × Bayele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MunaBay, client ancre dès le premier jour, fournit les données de vente vérifiées qui deviennent le pitch de référence pour signer cosmétique, agroalimentaire et distribution à Abidjan et Libreville.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2487168" cy="2331720"/>
          </a:xfrm>
          <a:prstGeom prst="roundRect">
            <a:avLst>
              <a:gd name="adj" fmla="val 4706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26464" y="3017520"/>
            <a:ext cx="914400" cy="914400"/>
          </a:xfrm>
          <a:prstGeom prst="ellipse">
            <a:avLst/>
          </a:prstGeom>
          <a:solidFill>
            <a:srgbClr val="131B2E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4208" y="325526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06908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C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MunaBay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448056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2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 &amp; soins naturels — a besoin de distribution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392" y="3611880"/>
            <a:ext cx="237744" cy="2377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383280" y="2697480"/>
            <a:ext cx="2487168" cy="2331720"/>
          </a:xfrm>
          <a:prstGeom prst="roundRect">
            <a:avLst>
              <a:gd name="adj" fmla="val 4706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169664" y="3017520"/>
            <a:ext cx="914400" cy="914400"/>
          </a:xfrm>
          <a:prstGeom prst="ellipse">
            <a:avLst/>
          </a:prstGeom>
          <a:solidFill>
            <a:srgbClr val="131B2E"/>
          </a:solidFill>
          <a:ln w="12700">
            <a:solidFill>
              <a:srgbClr val="D9956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3255264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20440" y="406908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C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Agence Bayele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566160" y="448056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2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Conçoit et pilote la campagne 360°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3611880"/>
            <a:ext cx="237744" cy="23774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126480" y="2697480"/>
            <a:ext cx="2487168" cy="2331720"/>
          </a:xfrm>
          <a:prstGeom prst="roundRect">
            <a:avLst>
              <a:gd name="adj" fmla="val 4706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912864" y="3017520"/>
            <a:ext cx="914400" cy="914400"/>
          </a:xfrm>
          <a:prstGeom prst="ellipse">
            <a:avLst/>
          </a:prstGeom>
          <a:solidFill>
            <a:srgbClr val="131B2E"/>
          </a:solidFill>
          <a:ln w="12700">
            <a:solidFill>
              <a:srgbClr val="B5622E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08" y="3255264"/>
            <a:ext cx="438912" cy="43891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263640" y="406908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C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Bayele Spark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6309360" y="448056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2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créateurs rémunérés en Mobile Money</a:t>
            </a:r>
            <a:endParaRPr lang="en-US" sz="11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2792" y="3611880"/>
            <a:ext cx="237744" cy="237744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8869680" y="2697480"/>
            <a:ext cx="2487168" cy="2331720"/>
          </a:xfrm>
          <a:prstGeom prst="roundRect">
            <a:avLst>
              <a:gd name="adj" fmla="val 4706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9656064" y="3017520"/>
            <a:ext cx="914400" cy="914400"/>
          </a:xfrm>
          <a:prstGeom prst="ellipse">
            <a:avLst/>
          </a:prstGeom>
          <a:solidFill>
            <a:srgbClr val="131B2E"/>
          </a:solidFill>
          <a:ln w="12700">
            <a:solidFill>
              <a:srgbClr val="5C8A63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3808" y="3255264"/>
            <a:ext cx="438912" cy="43891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006840" y="406908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C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Ventes vérifiées</a:t>
            </a:r>
            <a:endParaRPr lang="en-US" sz="1800" dirty="0"/>
          </a:p>
        </p:txBody>
      </p:sp>
      <p:sp>
        <p:nvSpPr>
          <p:cNvPr id="28" name="Text 19"/>
          <p:cNvSpPr/>
          <p:nvPr/>
        </p:nvSpPr>
        <p:spPr>
          <a:xfrm>
            <a:off x="9052560" y="448056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2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revendeuses à Douala &amp; Yaoundé</a:t>
            </a:r>
            <a:endParaRPr lang="en-US" sz="1100" dirty="0"/>
          </a:p>
        </p:txBody>
      </p:sp>
      <p:sp>
        <p:nvSpPr>
          <p:cNvPr id="29" name="Shape 20"/>
          <p:cNvSpPr/>
          <p:nvPr/>
        </p:nvSpPr>
        <p:spPr>
          <a:xfrm>
            <a:off x="640080" y="5349240"/>
            <a:ext cx="10908792" cy="685800"/>
          </a:xfrm>
          <a:prstGeom prst="roundRect">
            <a:avLst>
              <a:gd name="adj" fmla="val 13333"/>
            </a:avLst>
          </a:prstGeom>
          <a:solidFill>
            <a:srgbClr val="13251C"/>
          </a:solidFill>
          <a:ln w="12700">
            <a:solidFill>
              <a:srgbClr val="2E5A3B"/>
            </a:solidFill>
            <a:prstDash val="solid"/>
          </a:ln>
        </p:spPr>
      </p:sp>
      <p:sp>
        <p:nvSpPr>
          <p:cNvPr id="30" name="Text 21"/>
          <p:cNvSpPr/>
          <p:nvPr/>
        </p:nvSpPr>
        <p:spPr>
          <a:xfrm>
            <a:off x="914400" y="5349240"/>
            <a:ext cx="10378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9DC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Le volant se referme :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2E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ventes vérifiées alimentent la preuve qui attire le prochain grand compte — acquisition d’offre à coût zéro pour Bayele.</a:t>
            </a:r>
            <a:endParaRPr lang="en-US" sz="1250" dirty="0"/>
          </a:p>
        </p:txBody>
      </p:sp>
      <p:sp>
        <p:nvSpPr>
          <p:cNvPr id="31" name="Text 22"/>
          <p:cNvSpPr/>
          <p:nvPr/>
        </p:nvSpPr>
        <p:spPr>
          <a:xfrm>
            <a:off x="64008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6E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BAYELE</a:t>
            </a:r>
            <a:endParaRPr lang="en-US" sz="850" dirty="0"/>
          </a:p>
        </p:txBody>
      </p:sp>
      <p:sp>
        <p:nvSpPr>
          <p:cNvPr id="32" name="Text 23"/>
          <p:cNvSpPr/>
          <p:nvPr/>
        </p:nvSpPr>
        <p:spPr>
          <a:xfrm>
            <a:off x="10881360" y="641908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6E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926080"/>
            <a:ext cx="6400800" cy="6400800"/>
          </a:xfrm>
          <a:prstGeom prst="ellipse">
            <a:avLst/>
          </a:prstGeom>
          <a:solidFill>
            <a:srgbClr val="B5622E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722376"/>
            <a:ext cx="256032" cy="0"/>
          </a:xfrm>
          <a:prstGeom prst="line">
            <a:avLst/>
          </a:prstGeom>
          <a:noFill/>
          <a:ln w="12700">
            <a:solidFill>
              <a:srgbClr val="D995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7552" y="5486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D99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—  STRESS-TEST DU CONSEIL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modèle validé par les experts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321808" cy="2468880"/>
          </a:xfrm>
          <a:prstGeom prst="roundRect">
            <a:avLst>
              <a:gd name="adj" fmla="val 4444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Henri Atangana &amp; Dr. Amara Diallo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05840" y="2487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99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ÉCONOMIE — CEMAC / UEMOA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05840" y="2852928"/>
            <a:ext cx="27432" cy="128016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871216"/>
            <a:ext cx="4480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80" i="1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consultants opèrent comme prestataires indépendants (NIU, NCC), écartant tout risque de requalification. La parité 1:1 XAF/XOF permet une grille homogène ; les 25 % couvrent les micro-frais de compensation BEAC/BCEAO.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6227064" y="1874520"/>
            <a:ext cx="5321808" cy="2468880"/>
          </a:xfrm>
          <a:prstGeom prst="roundRect">
            <a:avLst>
              <a:gd name="adj" fmla="val 4444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92824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Marcus Van Der Merwe &amp; Chidi Okafor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92824" y="2487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99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INVESTISSEURS VC &amp; OPÉRATEURS DE MARKETPLACE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592824" y="2852928"/>
            <a:ext cx="27432" cy="128016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75704" y="2871216"/>
            <a:ext cx="4480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80" i="1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L’Agence rend Bayele rentable dès le jour 1 : 5 contrats à 2M FCFA/mois génèrent déjà 2,5M FCFA de marge brute. Les budgets des grands comptes financent l’acquisition des créateurs — à coût zéro.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640080" y="4709160"/>
            <a:ext cx="2615184" cy="1234440"/>
          </a:xfrm>
          <a:prstGeom prst="roundRect">
            <a:avLst>
              <a:gd name="adj" fmla="val 8889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910328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Pertinence marché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96112" y="548640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8301F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548640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DC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VALIDÉ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29000" y="4709160"/>
            <a:ext cx="2615184" cy="1234440"/>
          </a:xfrm>
          <a:prstGeom prst="roundRect">
            <a:avLst>
              <a:gd name="adj" fmla="val 8889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85032" y="4910328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économique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3685032" y="548640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8301F"/>
          </a:solidFill>
          <a:ln/>
        </p:spPr>
      </p:sp>
      <p:sp>
        <p:nvSpPr>
          <p:cNvPr id="23" name="Text 21"/>
          <p:cNvSpPr/>
          <p:nvPr/>
        </p:nvSpPr>
        <p:spPr>
          <a:xfrm>
            <a:off x="3685032" y="548640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DC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VALIDÉ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4709160"/>
            <a:ext cx="2615184" cy="1234440"/>
          </a:xfrm>
          <a:prstGeom prst="roundRect">
            <a:avLst>
              <a:gd name="adj" fmla="val 8889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4910328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Dispositif anti-fuite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473952" y="548640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8301F"/>
          </a:solidFill>
          <a:ln/>
        </p:spPr>
      </p:sp>
      <p:sp>
        <p:nvSpPr>
          <p:cNvPr id="27" name="Text 25"/>
          <p:cNvSpPr/>
          <p:nvPr/>
        </p:nvSpPr>
        <p:spPr>
          <a:xfrm>
            <a:off x="6473952" y="548640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DC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VALIDÉ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006840" y="4709160"/>
            <a:ext cx="2615184" cy="1234440"/>
          </a:xfrm>
          <a:prstGeom prst="roundRect">
            <a:avLst>
              <a:gd name="adj" fmla="val 8889"/>
            </a:avLst>
          </a:prstGeom>
          <a:solidFill>
            <a:srgbClr val="2A241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06840" y="4709160"/>
            <a:ext cx="2615184" cy="1234440"/>
          </a:xfrm>
          <a:prstGeom prst="roundRect">
            <a:avLst>
              <a:gd name="adj" fmla="val 8889"/>
            </a:avLst>
          </a:prstGeom>
          <a:ln w="15875">
            <a:solidFill>
              <a:srgbClr val="C9A2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62872" y="4910328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Adéquation fondatrice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9262872" y="548640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C9A24B"/>
          </a:solidFill>
          <a:ln/>
        </p:spPr>
      </p:sp>
      <p:sp>
        <p:nvSpPr>
          <p:cNvPr id="32" name="Text 30"/>
          <p:cNvSpPr/>
          <p:nvPr/>
        </p:nvSpPr>
        <p:spPr>
          <a:xfrm>
            <a:off x="9262872" y="548640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80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EXCEPTIONNEL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6E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BAYELE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881360" y="641908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6E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22376"/>
            <a:ext cx="256032" cy="0"/>
          </a:xfrm>
          <a:prstGeom prst="line">
            <a:avLst/>
          </a:prstGeom>
          <a:noFill/>
          <a:ln w="12700">
            <a:solidFill>
              <a:srgbClr val="D995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7552" y="5486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D99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—  TECHNOLOGIE &amp; CONFIANCE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infrastructure conçue pour la confiance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447288" cy="1874520"/>
          </a:xfrm>
          <a:prstGeom prst="roundRect">
            <a:avLst>
              <a:gd name="adj" fmla="val 5854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167128"/>
            <a:ext cx="713232" cy="713232"/>
          </a:xfrm>
          <a:prstGeom prst="ellipse">
            <a:avLst/>
          </a:prstGeom>
          <a:solidFill>
            <a:srgbClr val="131B2E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128" y="2352568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10512" y="21488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Séquestre natif Postgres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32688" y="289864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d’état unique : chaque mouvement de fonds validé et journalisé. Aucun contournement possible.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279392" y="1874520"/>
            <a:ext cx="3447288" cy="1874520"/>
          </a:xfrm>
          <a:prstGeom prst="roundRect">
            <a:avLst>
              <a:gd name="adj" fmla="val 5854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2167128"/>
            <a:ext cx="713232" cy="713232"/>
          </a:xfrm>
          <a:prstGeom prst="ellipse">
            <a:avLst/>
          </a:prstGeom>
          <a:solidFill>
            <a:srgbClr val="131B2E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440" y="2352568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9824" y="21488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Preuve assistée par IA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72000" y="289864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score les captures WhatsApp, mais la libération des fonds reste toujours une décision humaine.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7918704" y="1874520"/>
            <a:ext cx="3447288" cy="1874520"/>
          </a:xfrm>
          <a:prstGeom prst="roundRect">
            <a:avLst>
              <a:gd name="adj" fmla="val 5854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11312" y="2167128"/>
            <a:ext cx="713232" cy="713232"/>
          </a:xfrm>
          <a:prstGeom prst="ellipse">
            <a:avLst/>
          </a:prstGeom>
          <a:solidFill>
            <a:srgbClr val="131B2E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6752" y="2352568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89136" y="21488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Facturation OHADA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211312" y="289864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 conformes via SokoClick, devise adaptée au marché (XAF / XOF), déductibilité fiscale garantie.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640080" y="3977640"/>
            <a:ext cx="3447288" cy="1874520"/>
          </a:xfrm>
          <a:prstGeom prst="roundRect">
            <a:avLst>
              <a:gd name="adj" fmla="val 5854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32688" y="4270248"/>
            <a:ext cx="713232" cy="713232"/>
          </a:xfrm>
          <a:prstGeom prst="ellipse">
            <a:avLst/>
          </a:prstGeom>
          <a:solidFill>
            <a:srgbClr val="131B2E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128" y="4455688"/>
            <a:ext cx="342351" cy="34235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810512" y="42519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Mobile-first, 3G/4G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32688" y="500176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&lt; 90 Ko, zones tactiles 48px, rendu instantané sur Android d’entrée de gamme.</a:t>
            </a:r>
            <a:endParaRPr lang="en-US" sz="1080" dirty="0"/>
          </a:p>
        </p:txBody>
      </p:sp>
      <p:sp>
        <p:nvSpPr>
          <p:cNvPr id="25" name="Shape 19"/>
          <p:cNvSpPr/>
          <p:nvPr/>
        </p:nvSpPr>
        <p:spPr>
          <a:xfrm>
            <a:off x="4279392" y="3977640"/>
            <a:ext cx="3447288" cy="1874520"/>
          </a:xfrm>
          <a:prstGeom prst="roundRect">
            <a:avLst>
              <a:gd name="adj" fmla="val 5854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72000" y="4270248"/>
            <a:ext cx="713232" cy="713232"/>
          </a:xfrm>
          <a:prstGeom prst="ellipse">
            <a:avLst/>
          </a:prstGeom>
          <a:solidFill>
            <a:srgbClr val="131B2E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7440" y="4455688"/>
            <a:ext cx="342351" cy="34235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49824" y="42519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 par les données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572000" y="500176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Postgres comme véritable frontière d’accès : les données sensibles ne fuient jamais côté client.</a:t>
            </a:r>
            <a:endParaRPr lang="en-US" sz="1080" dirty="0"/>
          </a:p>
        </p:txBody>
      </p:sp>
      <p:sp>
        <p:nvSpPr>
          <p:cNvPr id="30" name="Shape 23"/>
          <p:cNvSpPr/>
          <p:nvPr/>
        </p:nvSpPr>
        <p:spPr>
          <a:xfrm>
            <a:off x="7918704" y="3977640"/>
            <a:ext cx="3447288" cy="1874520"/>
          </a:xfrm>
          <a:prstGeom prst="roundRect">
            <a:avLst>
              <a:gd name="adj" fmla="val 5854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211312" y="4270248"/>
            <a:ext cx="713232" cy="713232"/>
          </a:xfrm>
          <a:prstGeom prst="ellipse">
            <a:avLst/>
          </a:prstGeom>
          <a:solidFill>
            <a:srgbClr val="131B2E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6752" y="4455688"/>
            <a:ext cx="342351" cy="342351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89136" y="42519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Paiements multi-fournisseurs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211312" y="500176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 MoMo, Orange Money, Wave, Airtel — versements idempotents et réconciliés.</a:t>
            </a:r>
            <a:endParaRPr lang="en-US" sz="1080" dirty="0"/>
          </a:p>
        </p:txBody>
      </p:sp>
      <p:sp>
        <p:nvSpPr>
          <p:cNvPr id="35" name="Text 27"/>
          <p:cNvSpPr/>
          <p:nvPr/>
        </p:nvSpPr>
        <p:spPr>
          <a:xfrm>
            <a:off x="640080" y="6053328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spc="50" kern="0" dirty="0">
                <a:solidFill>
                  <a:srgbClr val="6E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· Supabase (Postgres / Auth / Realtime) · Fly.io (Paris) · SokoClick · Google Gemini 2.5 Flash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64008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6E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BAYELE</a:t>
            </a:r>
            <a:endParaRPr lang="en-US" sz="850" dirty="0"/>
          </a:p>
        </p:txBody>
      </p:sp>
      <p:sp>
        <p:nvSpPr>
          <p:cNvPr id="37" name="Text 29"/>
          <p:cNvSpPr/>
          <p:nvPr/>
        </p:nvSpPr>
        <p:spPr>
          <a:xfrm>
            <a:off x="10881360" y="641908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6E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22376"/>
            <a:ext cx="256032" cy="0"/>
          </a:xfrm>
          <a:prstGeom prst="line">
            <a:avLst/>
          </a:prstGeom>
          <a:noFill/>
          <a:ln w="12700">
            <a:solidFill>
              <a:srgbClr val="D9956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7552" y="5486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D99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—  EXÉCUTION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Feuille de route par tranches livrables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tranche est mise en production avant la suivante — une place de marché réelle, sécurisée et transactionnelle avant toute surface secondaire.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395728"/>
            <a:ext cx="457200" cy="457200"/>
          </a:xfrm>
          <a:prstGeom prst="ellipse">
            <a:avLst/>
          </a:prstGeom>
          <a:solidFill>
            <a:srgbClr val="131B2E"/>
          </a:solidFill>
          <a:ln w="15875">
            <a:solidFill>
              <a:srgbClr val="C9A2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340864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Fondation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280160" y="2651760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Supabase, RLS, machine à séquestre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2395728"/>
            <a:ext cx="457200" cy="457200"/>
          </a:xfrm>
          <a:prstGeom prst="ellipse">
            <a:avLst/>
          </a:prstGeom>
          <a:solidFill>
            <a:srgbClr val="131B2E"/>
          </a:solidFill>
          <a:ln w="15875">
            <a:solidFill>
              <a:srgbClr val="C9A2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03720" y="2340864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Vitrine publique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03720" y="2651760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Accueil, directoire créateurs &amp; consultants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131B2E"/>
          </a:solidFill>
          <a:ln w="15875">
            <a:solidFill>
              <a:srgbClr val="C9A2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3328416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Tunnel d’auth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280160" y="3639312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Téléphone + mot de passe, onboarding par rôle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3383280"/>
            <a:ext cx="457200" cy="457200"/>
          </a:xfrm>
          <a:prstGeom prst="ellipse">
            <a:avLst/>
          </a:prstGeom>
          <a:solidFill>
            <a:srgbClr val="131B2E"/>
          </a:solidFill>
          <a:ln w="15875">
            <a:solidFill>
              <a:srgbClr val="C9A2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03720" y="3328416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Administration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03720" y="3639312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Modération des profils, registre du séquestre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370832"/>
            <a:ext cx="457200" cy="457200"/>
          </a:xfrm>
          <a:prstGeom prst="ellipse">
            <a:avLst/>
          </a:prstGeom>
          <a:solidFill>
            <a:srgbClr val="131B2E"/>
          </a:solidFill>
          <a:ln w="15875">
            <a:solidFill>
              <a:srgbClr val="C9A2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0160" y="4315968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Espace &amp; notifications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280160" y="4626864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Coquille authentifiée, cloche temps réel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4370832"/>
            <a:ext cx="457200" cy="457200"/>
          </a:xfrm>
          <a:prstGeom prst="ellipse">
            <a:avLst/>
          </a:prstGeom>
          <a:solidFill>
            <a:srgbClr val="131B2E"/>
          </a:solidFill>
          <a:ln w="15875">
            <a:solidFill>
              <a:srgbClr val="C9A2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03720" y="4315968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Espace marque &amp; financement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903720" y="4626864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Campagnes, factures SokoClick, webhook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5358384"/>
            <a:ext cx="457200" cy="457200"/>
          </a:xfrm>
          <a:prstGeom prst="ellipse">
            <a:avLst/>
          </a:prstGeom>
          <a:solidFill>
            <a:srgbClr val="131B2E"/>
          </a:solidFill>
          <a:ln w="15875">
            <a:solidFill>
              <a:srgbClr val="C9A2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358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80160" y="5303520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Boucle d’exécution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1280160" y="5614416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 de diffusion, revue, paiement MoMo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63640" y="5358384"/>
            <a:ext cx="457200" cy="457200"/>
          </a:xfrm>
          <a:prstGeom prst="ellipse">
            <a:avLst/>
          </a:prstGeom>
          <a:solidFill>
            <a:srgbClr val="131B2E"/>
          </a:solidFill>
          <a:ln w="15875">
            <a:solidFill>
              <a:srgbClr val="C9A2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5358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03720" y="5303520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Mandats d’agence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6903720" y="5614416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Rétainers, intégrité comptable, financement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6E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BAYELE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881360" y="641908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6E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743200"/>
            <a:ext cx="6400800" cy="6400800"/>
          </a:xfrm>
          <a:prstGeom prst="ellipse">
            <a:avLst/>
          </a:prstGeom>
          <a:solidFill>
            <a:srgbClr val="C9A24B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722376"/>
            <a:ext cx="256032" cy="0"/>
          </a:xfrm>
          <a:prstGeom prst="line">
            <a:avLst/>
          </a:prstGeom>
          <a:noFill/>
          <a:ln w="12700">
            <a:solidFill>
              <a:srgbClr val="D995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7552" y="54864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D99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—  ADÉQUATION FONDATRICE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fondatrice au cœur du terrain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4206240" cy="3977640"/>
          </a:xfrm>
          <a:prstGeom prst="roundRect">
            <a:avLst>
              <a:gd name="adj" fmla="val 2759"/>
            </a:avLst>
          </a:prstGeom>
          <a:solidFill>
            <a:srgbClr val="0C12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2423160"/>
            <a:ext cx="2560320" cy="2560320"/>
          </a:xfrm>
          <a:prstGeom prst="ellipse">
            <a:avLst/>
          </a:prstGeom>
          <a:solidFill>
            <a:srgbClr val="131B2E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242316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8C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822960" y="50749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Claire Mekougang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22960" y="5486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D99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Fondatrice &amp; CEO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0" y="2011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9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ELLE, POURQUOI MAINTENANT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0" y="2468880"/>
            <a:ext cx="749808" cy="749808"/>
          </a:xfrm>
          <a:prstGeom prst="ellipse">
            <a:avLst/>
          </a:prstGeom>
          <a:solidFill>
            <a:srgbClr val="131B2E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5590" y="2663830"/>
            <a:ext cx="359908" cy="35990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035040" y="243230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Vente terrain &amp; sales-ops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035040" y="2798064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expertise directe de la distribution et de la conversion sur le marché camerounais — le cœur de métier de Bayele.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120640" y="3675888"/>
            <a:ext cx="749808" cy="749808"/>
          </a:xfrm>
          <a:prstGeom prst="ellipse">
            <a:avLst/>
          </a:prstGeom>
          <a:solidFill>
            <a:srgbClr val="131B2E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5590" y="3870838"/>
            <a:ext cx="359908" cy="3599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035040" y="36393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MunaBay, client ancre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035040" y="4005072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Fondatrice de MunaBay (santé &amp; soins naturels), elle apporte le premier grand compte et ses données de vente vérifiées.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120640" y="4882896"/>
            <a:ext cx="749808" cy="749808"/>
          </a:xfrm>
          <a:prstGeom prst="ellipse">
            <a:avLst/>
          </a:prstGeom>
          <a:solidFill>
            <a:srgbClr val="131B2E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5590" y="5077846"/>
            <a:ext cx="359908" cy="3599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035040" y="4846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Ancrage réseau local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035040" y="5212080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accès direct aux revendeuses et micro-distributrices de Douala et Yaoundé qui font la force de frappe Spark.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40080" y="6419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6E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BAYELE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10881360" y="641908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6E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-3200400"/>
            <a:ext cx="7772400" cy="7772400"/>
          </a:xfrm>
          <a:prstGeom prst="ellipse">
            <a:avLst/>
          </a:prstGeom>
          <a:solidFill>
            <a:srgbClr val="C9A24B">
              <a:alpha val="11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389120"/>
            <a:ext cx="6858000" cy="6858000"/>
          </a:xfrm>
          <a:prstGeom prst="ellipse">
            <a:avLst/>
          </a:prstGeom>
          <a:solidFill>
            <a:srgbClr val="B5622E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822960"/>
            <a:ext cx="1051560" cy="10515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783" y="959663"/>
            <a:ext cx="778154" cy="7781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82296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Bayele</a:t>
            </a:r>
            <a:pPr indent="0" marL="0">
              <a:buNone/>
            </a:pPr>
            <a:r>
              <a:rPr lang="en-US" sz="4400" b="1" dirty="0">
                <a:solidFill>
                  <a:srgbClr val="E8C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58368" y="2377440"/>
            <a:ext cx="9692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100" b="1" dirty="0">
                <a:solidFill>
                  <a:srgbClr val="F2ED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micro-campagne libre-service au mandat corporate — une seule plateforme de confiance pour l’influence africaine.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658368" y="406908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Bayele transforme la puissance quotidienne des Statuts WhatsApp en un canal de distribution mesurable, sécurisé par séquestre et conforme au droit OHADA — rentable dès le premier mandat.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58368" y="5257800"/>
            <a:ext cx="1490472" cy="457200"/>
          </a:xfrm>
          <a:prstGeom prst="roundRect">
            <a:avLst>
              <a:gd name="adj" fmla="val 50000"/>
            </a:avLst>
          </a:prstGeom>
          <a:solidFill>
            <a:srgbClr val="131B2E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5257800"/>
            <a:ext cx="1490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Cameroun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377440" y="5257800"/>
            <a:ext cx="2107692" cy="457200"/>
          </a:xfrm>
          <a:prstGeom prst="roundRect">
            <a:avLst>
              <a:gd name="adj" fmla="val 50000"/>
            </a:avLst>
          </a:prstGeom>
          <a:solidFill>
            <a:srgbClr val="131B2E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377440" y="5257800"/>
            <a:ext cx="21076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Côte d’Ivoire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13732" y="5257800"/>
            <a:ext cx="1120140" cy="457200"/>
          </a:xfrm>
          <a:prstGeom prst="roundRect">
            <a:avLst>
              <a:gd name="adj" fmla="val 50000"/>
            </a:avLst>
          </a:prstGeom>
          <a:solidFill>
            <a:srgbClr val="131B2E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13732" y="5257800"/>
            <a:ext cx="1120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C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58368" y="6126480"/>
            <a:ext cx="10881360" cy="0"/>
          </a:xfrm>
          <a:prstGeom prst="line">
            <a:avLst/>
          </a:prstGeom>
          <a:noFill/>
          <a:ln w="12700">
            <a:solidFill>
              <a:srgbClr val="2A35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Bayele Technologies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035040" y="6263640"/>
            <a:ext cx="5513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bayelecorporate@gmail.com  ·  Confidentiel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Bayele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Bayele — Présentation Investisseurs</dc:title>
  <dc:subject>PptxGenJS Presentation</dc:subject>
  <dc:creator>Bayele</dc:creator>
  <cp:lastModifiedBy>Bayele</cp:lastModifiedBy>
  <cp:revision>1</cp:revision>
  <dcterms:created xsi:type="dcterms:W3CDTF">2026-08-16T17:17:10Z</dcterms:created>
  <dcterms:modified xsi:type="dcterms:W3CDTF">2026-08-16T17:17:10Z</dcterms:modified>
</cp:coreProperties>
</file>